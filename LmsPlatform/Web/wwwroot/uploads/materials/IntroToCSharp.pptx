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4" r:id="rId6"/>
    <p:sldId id="265" r:id="rId7"/>
    <p:sldId id="259" r:id="rId8"/>
    <p:sldId id="260" r:id="rId9"/>
    <p:sldId id="261" r:id="rId10"/>
    <p:sldId id="262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E4473-B5B8-4435-B943-C1A7ED03C2F4}" type="datetimeFigureOut">
              <a:rPr lang="bg-BG" smtClean="0"/>
              <a:t>27.3.2015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90CED-1FAE-4AB1-BCA9-1A752851A9F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16563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E4473-B5B8-4435-B943-C1A7ED03C2F4}" type="datetimeFigureOut">
              <a:rPr lang="bg-BG" smtClean="0"/>
              <a:t>27.3.2015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90CED-1FAE-4AB1-BCA9-1A752851A9F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99266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E4473-B5B8-4435-B943-C1A7ED03C2F4}" type="datetimeFigureOut">
              <a:rPr lang="bg-BG" smtClean="0"/>
              <a:t>27.3.2015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90CED-1FAE-4AB1-BCA9-1A752851A9F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74435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E4473-B5B8-4435-B943-C1A7ED03C2F4}" type="datetimeFigureOut">
              <a:rPr lang="bg-BG" smtClean="0"/>
              <a:t>27.3.2015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90CED-1FAE-4AB1-BCA9-1A752851A9F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11112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E4473-B5B8-4435-B943-C1A7ED03C2F4}" type="datetimeFigureOut">
              <a:rPr lang="bg-BG" smtClean="0"/>
              <a:t>27.3.2015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90CED-1FAE-4AB1-BCA9-1A752851A9F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9404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E4473-B5B8-4435-B943-C1A7ED03C2F4}" type="datetimeFigureOut">
              <a:rPr lang="bg-BG" smtClean="0"/>
              <a:t>27.3.2015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90CED-1FAE-4AB1-BCA9-1A752851A9F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07326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E4473-B5B8-4435-B943-C1A7ED03C2F4}" type="datetimeFigureOut">
              <a:rPr lang="bg-BG" smtClean="0"/>
              <a:t>27.3.2015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90CED-1FAE-4AB1-BCA9-1A752851A9F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41097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E4473-B5B8-4435-B943-C1A7ED03C2F4}" type="datetimeFigureOut">
              <a:rPr lang="bg-BG" smtClean="0"/>
              <a:t>27.3.2015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90CED-1FAE-4AB1-BCA9-1A752851A9F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92694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E4473-B5B8-4435-B943-C1A7ED03C2F4}" type="datetimeFigureOut">
              <a:rPr lang="bg-BG" smtClean="0"/>
              <a:t>27.3.2015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90CED-1FAE-4AB1-BCA9-1A752851A9F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533155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E4473-B5B8-4435-B943-C1A7ED03C2F4}" type="datetimeFigureOut">
              <a:rPr lang="bg-BG" smtClean="0"/>
              <a:t>27.3.2015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90CED-1FAE-4AB1-BCA9-1A752851A9F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20833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E4473-B5B8-4435-B943-C1A7ED03C2F4}" type="datetimeFigureOut">
              <a:rPr lang="bg-BG" smtClean="0"/>
              <a:t>27.3.2015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90CED-1FAE-4AB1-BCA9-1A752851A9F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60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4E4473-B5B8-4435-B943-C1A7ED03C2F4}" type="datetimeFigureOut">
              <a:rPr lang="bg-BG" smtClean="0"/>
              <a:t>27.3.2015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490CED-1FAE-4AB1-BCA9-1A752851A9F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51781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 smtClean="0"/>
              <a:t>Въведение в програмирането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008599"/>
          </a:xfrm>
        </p:spPr>
        <p:txBody>
          <a:bodyPr>
            <a:normAutofit/>
          </a:bodyPr>
          <a:lstStyle/>
          <a:p>
            <a:r>
              <a:rPr lang="bg-BG" sz="6600" dirty="0" smtClean="0"/>
              <a:t>със </a:t>
            </a:r>
            <a:r>
              <a:rPr lang="en-US" sz="6600" dirty="0" smtClean="0"/>
              <a:t>C#</a:t>
            </a:r>
            <a:endParaRPr lang="bg-BG" sz="6600" dirty="0"/>
          </a:p>
        </p:txBody>
      </p:sp>
      <p:sp>
        <p:nvSpPr>
          <p:cNvPr id="4" name="TextBox 3"/>
          <p:cNvSpPr txBox="1"/>
          <p:nvPr/>
        </p:nvSpPr>
        <p:spPr>
          <a:xfrm>
            <a:off x="1820214" y="5100034"/>
            <a:ext cx="85515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800" b="1" dirty="0" smtClean="0"/>
              <a:t>Материалите са от книгата на Светлин Нанков, Веселин Колев и колектив</a:t>
            </a:r>
          </a:p>
          <a:p>
            <a:pPr algn="ctr"/>
            <a:r>
              <a:rPr lang="en-US" sz="2800" b="1" dirty="0" smtClean="0"/>
              <a:t>http://www.introprogramming.info/intro-csharp-book/</a:t>
            </a:r>
            <a:endParaRPr lang="bg-BG" sz="2800" b="1" dirty="0"/>
          </a:p>
        </p:txBody>
      </p:sp>
    </p:spTree>
    <p:extLst>
      <p:ext uri="{BB962C8B-B14F-4D97-AF65-F5344CB8AC3E}">
        <p14:creationId xmlns:p14="http://schemas.microsoft.com/office/powerpoint/2010/main" val="471856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287886"/>
          </a:xfrm>
        </p:spPr>
        <p:txBody>
          <a:bodyPr/>
          <a:lstStyle/>
          <a:p>
            <a:r>
              <a:rPr lang="bg-BG" dirty="0" smtClean="0"/>
              <a:t>1. Какво е </a:t>
            </a:r>
            <a:r>
              <a:rPr lang="en-US" dirty="0" smtClean="0"/>
              <a:t>C#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7886"/>
            <a:ext cx="10515600" cy="5383369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C# е съвременен обектно-ориентиран език за програмиране с общо пред-назначение, създаден и развиван от Microsoft редом с .NET платформата. </a:t>
            </a:r>
            <a:endParaRPr lang="en-US" dirty="0" smtClean="0"/>
          </a:p>
          <a:p>
            <a:r>
              <a:rPr lang="ru-RU" dirty="0"/>
              <a:t>C# е език от високо </a:t>
            </a:r>
            <a:r>
              <a:rPr lang="ru-RU" dirty="0" smtClean="0"/>
              <a:t>ниво (подобен на </a:t>
            </a:r>
            <a:r>
              <a:rPr lang="en-US" dirty="0"/>
              <a:t>Java </a:t>
            </a:r>
            <a:r>
              <a:rPr lang="bg-BG" dirty="0"/>
              <a:t>и </a:t>
            </a:r>
            <a:r>
              <a:rPr lang="en-US" dirty="0"/>
              <a:t>C++ </a:t>
            </a:r>
            <a:r>
              <a:rPr lang="ru-RU" dirty="0" smtClean="0"/>
              <a:t>). Той представлява </a:t>
            </a:r>
            <a:r>
              <a:rPr lang="ru-RU" dirty="0"/>
              <a:t>съвкупност от дефиниции на класове, които съдържат в себе си методи, а в методите е разположена програмната логика – инструкциите, които компютърът изпълнява. </a:t>
            </a:r>
            <a:endParaRPr lang="ru-RU" dirty="0" smtClean="0"/>
          </a:p>
          <a:p>
            <a:r>
              <a:rPr lang="ru-RU" dirty="0"/>
              <a:t>към момента </a:t>
            </a:r>
            <a:r>
              <a:rPr lang="ru-RU" dirty="0" smtClean="0"/>
              <a:t>езикът </a:t>
            </a:r>
            <a:r>
              <a:rPr lang="ru-RU" dirty="0"/>
              <a:t>C# и платформата .NET Framework се поддържат и контролират изцяло от Microsoft и не са отворени за външни участници</a:t>
            </a:r>
            <a:r>
              <a:rPr lang="ru-RU" dirty="0" smtClean="0"/>
              <a:t>.</a:t>
            </a:r>
          </a:p>
          <a:p>
            <a:r>
              <a:rPr lang="bg-BG" dirty="0"/>
              <a:t>Езикът </a:t>
            </a:r>
            <a:r>
              <a:rPr lang="en-US" dirty="0"/>
              <a:t>C# </a:t>
            </a:r>
            <a:r>
              <a:rPr lang="bg-BG" dirty="0"/>
              <a:t>се </a:t>
            </a:r>
            <a:r>
              <a:rPr lang="bg-BG" dirty="0" smtClean="0"/>
              <a:t>разпространява заедно със специална среда, върху която се изпълнява, наречена </a:t>
            </a:r>
            <a:r>
              <a:rPr lang="en-US" b="1" dirty="0" smtClean="0"/>
              <a:t>Common Language Runtime (CLR)</a:t>
            </a:r>
            <a:r>
              <a:rPr lang="en-US" dirty="0" smtClean="0"/>
              <a:t>. </a:t>
            </a:r>
            <a:r>
              <a:rPr lang="bg-BG" dirty="0" smtClean="0"/>
              <a:t>Тази среда </a:t>
            </a:r>
            <a:r>
              <a:rPr lang="bg-BG" dirty="0"/>
              <a:t>е част от </a:t>
            </a:r>
            <a:r>
              <a:rPr lang="bg-BG" b="1" dirty="0"/>
              <a:t>платформата .</a:t>
            </a:r>
            <a:r>
              <a:rPr lang="en-US" b="1" dirty="0"/>
              <a:t>NET Framework</a:t>
            </a:r>
            <a:r>
              <a:rPr lang="en-US" dirty="0"/>
              <a:t>, </a:t>
            </a:r>
            <a:r>
              <a:rPr lang="bg-BG" dirty="0"/>
              <a:t>която включва </a:t>
            </a:r>
            <a:r>
              <a:rPr lang="en-US" dirty="0"/>
              <a:t>CLR, </a:t>
            </a:r>
            <a:r>
              <a:rPr lang="bg-BG" dirty="0"/>
              <a:t>пакет от стандартни библиотеки, предоставящи базова функционалност, </a:t>
            </a:r>
            <a:r>
              <a:rPr lang="bg-BG" dirty="0" smtClean="0"/>
              <a:t>компилатори</a:t>
            </a:r>
            <a:r>
              <a:rPr lang="bg-BG" dirty="0"/>
              <a:t>, дебъгери и други средства за разработка. </a:t>
            </a:r>
          </a:p>
        </p:txBody>
      </p:sp>
    </p:spTree>
    <p:extLst>
      <p:ext uri="{BB962C8B-B14F-4D97-AF65-F5344CB8AC3E}">
        <p14:creationId xmlns:p14="http://schemas.microsoft.com/office/powerpoint/2010/main" val="2166255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59099"/>
          </a:xfrm>
        </p:spPr>
        <p:txBody>
          <a:bodyPr/>
          <a:lstStyle/>
          <a:p>
            <a:r>
              <a:rPr lang="bg-BG" dirty="0" smtClean="0"/>
              <a:t>2. </a:t>
            </a:r>
            <a:r>
              <a:rPr lang="bg-BG" b="1" dirty="0"/>
              <a:t>Платформата </a:t>
            </a:r>
            <a:r>
              <a:rPr lang="en-US" b="1" dirty="0"/>
              <a:t>Microsoft .NET Framework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Тя се състои от .NET езици за програмиране (C#, VB.NET и други), </a:t>
            </a:r>
            <a:r>
              <a:rPr lang="ru-RU" b="1" dirty="0"/>
              <a:t>среда за изпълнение на </a:t>
            </a:r>
            <a:r>
              <a:rPr lang="ru-RU" b="1" dirty="0" smtClean="0"/>
              <a:t>управляван </a:t>
            </a:r>
            <a:r>
              <a:rPr lang="ru-RU" b="1" dirty="0"/>
              <a:t>код (CLR)</a:t>
            </a:r>
            <a:r>
              <a:rPr lang="ru-RU" dirty="0"/>
              <a:t>, която изпълнява контролирано C# програмите, и от съвкупност от стандартни библиотеки и инструменти за разработка, като например компилаторът </a:t>
            </a:r>
            <a:r>
              <a:rPr lang="ru-RU" b="1" dirty="0"/>
              <a:t>csc</a:t>
            </a:r>
            <a:r>
              <a:rPr lang="ru-RU" dirty="0"/>
              <a:t>, който превръща C# програмите в разбираем за CLR междинен код (наречен MSIL) и библиотеката ADO.NET, която </a:t>
            </a:r>
            <a:r>
              <a:rPr lang="ru-RU" dirty="0" smtClean="0"/>
              <a:t>осигурява достъп до бази от </a:t>
            </a:r>
            <a:r>
              <a:rPr lang="ru-RU" dirty="0"/>
              <a:t>данни (например MS SQL Server или MySQL</a:t>
            </a:r>
            <a:r>
              <a:rPr lang="ru-RU" dirty="0" smtClean="0"/>
              <a:t>).</a:t>
            </a:r>
          </a:p>
          <a:p>
            <a:r>
              <a:rPr lang="ru-RU" dirty="0"/>
              <a:t>.NET Framework е част от всяка съвременна Windows дистрибуция и може да се срещне в различни свои версии. </a:t>
            </a:r>
            <a:r>
              <a:rPr lang="ru-RU" dirty="0" smtClean="0"/>
              <a:t> 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621604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33341"/>
          </a:xfrm>
        </p:spPr>
        <p:txBody>
          <a:bodyPr/>
          <a:lstStyle/>
          <a:p>
            <a:r>
              <a:rPr lang="bg-BG" dirty="0" smtClean="0"/>
              <a:t>Предимства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3341"/>
            <a:ext cx="10515600" cy="5370490"/>
          </a:xfrm>
        </p:spPr>
        <p:txBody>
          <a:bodyPr>
            <a:normAutofit/>
          </a:bodyPr>
          <a:lstStyle/>
          <a:p>
            <a:r>
              <a:rPr lang="bg-BG" b="1" dirty="0"/>
              <a:t>Автоматично управление на паметта </a:t>
            </a:r>
            <a:r>
              <a:rPr lang="en-US" b="1" dirty="0" smtClean="0"/>
              <a:t>- </a:t>
            </a:r>
            <a:r>
              <a:rPr lang="en-US" dirty="0" smtClean="0"/>
              <a:t>e</a:t>
            </a:r>
            <a:r>
              <a:rPr lang="ru-RU" dirty="0" smtClean="0"/>
              <a:t>дно </a:t>
            </a:r>
            <a:r>
              <a:rPr lang="ru-RU" dirty="0"/>
              <a:t>от най-големите предимства на .NET Framework е вграденото </a:t>
            </a:r>
            <a:r>
              <a:rPr lang="ru-RU" dirty="0" smtClean="0"/>
              <a:t>автоматично </a:t>
            </a:r>
            <a:r>
              <a:rPr lang="ru-RU" dirty="0"/>
              <a:t>управление на паметта. </a:t>
            </a:r>
            <a:endParaRPr lang="en-US" dirty="0" smtClean="0"/>
          </a:p>
          <a:p>
            <a:r>
              <a:rPr lang="ru-RU" b="1" dirty="0"/>
              <a:t>Независимост от средата и от езика за </a:t>
            </a:r>
            <a:r>
              <a:rPr lang="ru-RU" b="1" dirty="0" smtClean="0"/>
              <a:t>програмиране - </a:t>
            </a:r>
            <a:r>
              <a:rPr lang="ru-RU" dirty="0" smtClean="0"/>
              <a:t>идеята </a:t>
            </a:r>
            <a:r>
              <a:rPr lang="ru-RU" dirty="0"/>
              <a:t>за независимост от средата е заложена още при самото създаване на .NET платформата и се реализира </a:t>
            </a:r>
            <a:r>
              <a:rPr lang="ru-RU" dirty="0" smtClean="0"/>
              <a:t>по следния начин: изходният </a:t>
            </a:r>
            <a:r>
              <a:rPr lang="ru-RU" dirty="0"/>
              <a:t>код не се компилира до инструкции, предназначени за даден конкретен </a:t>
            </a:r>
            <a:r>
              <a:rPr lang="ru-RU" b="1" dirty="0" smtClean="0"/>
              <a:t> </a:t>
            </a:r>
            <a:r>
              <a:rPr lang="bg-BG" dirty="0"/>
              <a:t>микропроцесор, и не използва специфични възможности на дадена </a:t>
            </a:r>
            <a:r>
              <a:rPr lang="bg-BG" dirty="0" smtClean="0"/>
              <a:t>операционна </a:t>
            </a:r>
            <a:r>
              <a:rPr lang="bg-BG" dirty="0"/>
              <a:t>система, а се компилира до междинен език – така нареченият </a:t>
            </a:r>
            <a:r>
              <a:rPr lang="en-US" b="1" dirty="0"/>
              <a:t>Common Intermediate Language (CIL)</a:t>
            </a:r>
            <a:r>
              <a:rPr lang="en-US" dirty="0"/>
              <a:t>. </a:t>
            </a:r>
            <a:r>
              <a:rPr lang="bg-BG" dirty="0"/>
              <a:t>Този език </a:t>
            </a:r>
            <a:r>
              <a:rPr lang="en-US" b="1" dirty="0"/>
              <a:t>CIL </a:t>
            </a:r>
            <a:r>
              <a:rPr lang="bg-BG" dirty="0"/>
              <a:t>не се изпълнява директно от микропроцесора, а се изпълнява от виртуална среда за изпълнения на </a:t>
            </a:r>
            <a:r>
              <a:rPr lang="en-US" dirty="0"/>
              <a:t>CIL </a:t>
            </a:r>
            <a:r>
              <a:rPr lang="bg-BG" dirty="0"/>
              <a:t>кода, наречена </a:t>
            </a:r>
            <a:r>
              <a:rPr lang="en-US" b="1" dirty="0"/>
              <a:t>Common Language Runtime (CLR</a:t>
            </a:r>
            <a:r>
              <a:rPr lang="en-US" b="1" dirty="0" smtClean="0"/>
              <a:t>)</a:t>
            </a:r>
            <a:r>
              <a:rPr lang="bg-BG" b="1" dirty="0" smtClean="0"/>
              <a:t> – </a:t>
            </a:r>
            <a:r>
              <a:rPr lang="bg-BG" b="1" dirty="0"/>
              <a:t>с</a:t>
            </a:r>
            <a:r>
              <a:rPr lang="bg-BG" b="1" dirty="0" smtClean="0"/>
              <a:t>ърцето на .</a:t>
            </a:r>
            <a:r>
              <a:rPr lang="en-US" b="1" dirty="0" smtClean="0"/>
              <a:t>NET</a:t>
            </a:r>
            <a:r>
              <a:rPr lang="en-US" dirty="0" smtClean="0"/>
              <a:t>. 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978053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91673"/>
          </a:xfrm>
        </p:spPr>
        <p:txBody>
          <a:bodyPr/>
          <a:lstStyle/>
          <a:p>
            <a:r>
              <a:rPr lang="bg-BG" dirty="0" smtClean="0"/>
              <a:t>Разновидности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1673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ru-RU" b="1" dirty="0" smtClean="0"/>
              <a:t>.</a:t>
            </a:r>
            <a:r>
              <a:rPr lang="ru-RU" b="1" dirty="0"/>
              <a:t>NET Framework </a:t>
            </a:r>
            <a:r>
              <a:rPr lang="ru-RU" dirty="0"/>
              <a:t>е най-използвания вариант на .NET среда, понеже тя е с общо, масово предназначение. Използва се при разработката на конзолни приложения, Windows програми с графичен интерфейс, уеб приложения и много други. </a:t>
            </a:r>
          </a:p>
          <a:p>
            <a:r>
              <a:rPr lang="en-US" b="1" dirty="0" smtClean="0"/>
              <a:t>.</a:t>
            </a:r>
            <a:r>
              <a:rPr lang="en-US" b="1" dirty="0"/>
              <a:t>NET Compact Framework </a:t>
            </a:r>
            <a:r>
              <a:rPr lang="en-US" dirty="0"/>
              <a:t>(CF) </a:t>
            </a:r>
            <a:r>
              <a:rPr lang="bg-BG" dirty="0"/>
              <a:t>е "олекотена" версия на стандарт-ния .</a:t>
            </a:r>
            <a:r>
              <a:rPr lang="en-US" dirty="0"/>
              <a:t>NET Framework </a:t>
            </a:r>
            <a:r>
              <a:rPr lang="bg-BG" dirty="0"/>
              <a:t>и се използва за разработка на приложения за мобилни телефони и други </a:t>
            </a:r>
            <a:r>
              <a:rPr lang="en-US" dirty="0"/>
              <a:t>PDA </a:t>
            </a:r>
            <a:r>
              <a:rPr lang="bg-BG" dirty="0"/>
              <a:t>устройства (използващи </a:t>
            </a:r>
            <a:r>
              <a:rPr lang="en-US" dirty="0"/>
              <a:t>Windows Mobile Edition). </a:t>
            </a:r>
          </a:p>
          <a:p>
            <a:r>
              <a:rPr lang="en-US" b="1" dirty="0" smtClean="0"/>
              <a:t>Silverlight </a:t>
            </a:r>
            <a:r>
              <a:rPr lang="bg-BG" dirty="0"/>
              <a:t>също е "олекотена" версия на .</a:t>
            </a:r>
            <a:r>
              <a:rPr lang="en-US" dirty="0"/>
              <a:t>NET Framework, </a:t>
            </a:r>
            <a:r>
              <a:rPr lang="bg-BG" dirty="0"/>
              <a:t>предназ-начена да се изпълнява в уеб браузърите за реализация на мултиме-дийни и </a:t>
            </a:r>
            <a:r>
              <a:rPr lang="en-US" dirty="0"/>
              <a:t>RIA </a:t>
            </a:r>
            <a:r>
              <a:rPr lang="bg-BG" dirty="0"/>
              <a:t>приложения (</a:t>
            </a:r>
            <a:r>
              <a:rPr lang="en-US" dirty="0"/>
              <a:t>Rich Internet Applications). 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3272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Application Programming Interface (API)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Всеки .NET инструмент или технология се използва, като се създават обекти и се викат техни методи. Наборът от публични класове и методи, които са достъпни за употреба от програмистите и се предоставят от технологиите, се нарича </a:t>
            </a:r>
            <a:r>
              <a:rPr lang="ru-RU" b="1" dirty="0"/>
              <a:t>Application Programming Interface </a:t>
            </a:r>
            <a:r>
              <a:rPr lang="ru-RU" dirty="0"/>
              <a:t>или просто </a:t>
            </a:r>
            <a:r>
              <a:rPr lang="ru-RU" b="1" dirty="0"/>
              <a:t>API</a:t>
            </a:r>
            <a:r>
              <a:rPr lang="ru-RU" dirty="0"/>
              <a:t>. 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332442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68946"/>
          </a:xfrm>
        </p:spPr>
        <p:txBody>
          <a:bodyPr/>
          <a:lstStyle/>
          <a:p>
            <a:r>
              <a:rPr lang="en-US" dirty="0" smtClean="0"/>
              <a:t>3. C# </a:t>
            </a:r>
            <a:r>
              <a:rPr lang="bg-BG" dirty="0" smtClean="0"/>
              <a:t>програма - структура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68947"/>
            <a:ext cx="10515600" cy="510801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HelloCSharp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bg-BG" dirty="0"/>
              <a:t>{ </a:t>
            </a:r>
          </a:p>
          <a:p>
            <a:pPr marL="0" indent="0">
              <a:buNone/>
            </a:pPr>
            <a:r>
              <a:rPr lang="bg-BG" dirty="0" smtClean="0"/>
              <a:t>	</a:t>
            </a:r>
            <a:r>
              <a:rPr lang="en-US" dirty="0" smtClean="0"/>
              <a:t>static </a:t>
            </a:r>
            <a:r>
              <a:rPr lang="en-US" dirty="0"/>
              <a:t>void Main(string[] </a:t>
            </a:r>
            <a:r>
              <a:rPr lang="en-US" dirty="0" err="1"/>
              <a:t>args</a:t>
            </a:r>
            <a:r>
              <a:rPr lang="en-US" dirty="0"/>
              <a:t>) </a:t>
            </a:r>
          </a:p>
          <a:p>
            <a:pPr marL="0" indent="0">
              <a:buNone/>
            </a:pPr>
            <a:r>
              <a:rPr lang="bg-BG" dirty="0" smtClean="0"/>
              <a:t>	{ </a:t>
            </a:r>
            <a:endParaRPr lang="bg-BG" dirty="0"/>
          </a:p>
          <a:p>
            <a:pPr marL="0" indent="0">
              <a:buNone/>
            </a:pPr>
            <a:r>
              <a:rPr lang="bg-BG" dirty="0" smtClean="0"/>
              <a:t>	</a:t>
            </a:r>
            <a:r>
              <a:rPr lang="bg-BG" dirty="0"/>
              <a:t>	</a:t>
            </a:r>
            <a:r>
              <a:rPr lang="en-US" dirty="0" err="1" smtClean="0"/>
              <a:t>System.Console.WriteLine</a:t>
            </a:r>
            <a:r>
              <a:rPr lang="en-US" dirty="0"/>
              <a:t>("Hello C#!"); </a:t>
            </a:r>
          </a:p>
          <a:p>
            <a:pPr marL="0" indent="0">
              <a:buNone/>
            </a:pPr>
            <a:r>
              <a:rPr lang="bg-BG" dirty="0" smtClean="0"/>
              <a:t>	} </a:t>
            </a:r>
            <a:endParaRPr lang="bg-BG" dirty="0"/>
          </a:p>
          <a:p>
            <a:pPr marL="0" indent="0">
              <a:buNone/>
            </a:pPr>
            <a:r>
              <a:rPr lang="bg-BG" dirty="0"/>
              <a:t>} 	</a:t>
            </a:r>
          </a:p>
          <a:p>
            <a:endParaRPr lang="bg-BG" dirty="0"/>
          </a:p>
          <a:p>
            <a:r>
              <a:rPr lang="bg-BG" dirty="0" smtClean="0"/>
              <a:t>Дефиниция </a:t>
            </a:r>
            <a:r>
              <a:rPr lang="bg-BG" dirty="0"/>
              <a:t>на клас </a:t>
            </a:r>
            <a:r>
              <a:rPr lang="en-US" b="1" dirty="0" err="1"/>
              <a:t>HelloCSharp</a:t>
            </a:r>
            <a:r>
              <a:rPr lang="en-US" dirty="0"/>
              <a:t>; </a:t>
            </a:r>
          </a:p>
          <a:p>
            <a:r>
              <a:rPr lang="bg-BG" dirty="0" smtClean="0"/>
              <a:t>Дефиниция </a:t>
            </a:r>
            <a:r>
              <a:rPr lang="bg-BG" dirty="0"/>
              <a:t>на метод </a:t>
            </a:r>
            <a:r>
              <a:rPr lang="en-US" b="1" dirty="0"/>
              <a:t>Main()</a:t>
            </a:r>
            <a:r>
              <a:rPr lang="en-US" dirty="0"/>
              <a:t>; </a:t>
            </a:r>
          </a:p>
          <a:p>
            <a:r>
              <a:rPr lang="bg-BG" dirty="0" smtClean="0"/>
              <a:t>Съдържание </a:t>
            </a:r>
            <a:r>
              <a:rPr lang="bg-BG" dirty="0"/>
              <a:t>на метода </a:t>
            </a:r>
            <a:r>
              <a:rPr lang="en-US" b="1" dirty="0"/>
              <a:t>Main()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784236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174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C# </a:t>
            </a:r>
            <a:r>
              <a:rPr lang="bg-BG" dirty="0" smtClean="0"/>
              <a:t>програма – структура (</a:t>
            </a:r>
            <a:r>
              <a:rPr lang="bg-BG" b="1" dirty="0"/>
              <a:t>Дефиниция на клас </a:t>
            </a:r>
            <a:r>
              <a:rPr lang="bg-BG" dirty="0" smtClean="0"/>
              <a:t>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539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dirty="0"/>
              <a:t>На първия ред от нашата програма дефинираме клас с името </a:t>
            </a:r>
            <a:r>
              <a:rPr lang="ru-RU" sz="3600" b="1" dirty="0"/>
              <a:t>HelloCSharp</a:t>
            </a:r>
            <a:r>
              <a:rPr lang="ru-RU" sz="3600" dirty="0"/>
              <a:t>. Най-простата дефиниция на клас се състои от ключовата дума </a:t>
            </a:r>
            <a:r>
              <a:rPr lang="ru-RU" sz="3600" b="1" dirty="0"/>
              <a:t>class</a:t>
            </a:r>
            <a:r>
              <a:rPr lang="ru-RU" sz="3600" dirty="0"/>
              <a:t>, следвана от името на класа. В нашия случай името на класа е </a:t>
            </a:r>
            <a:r>
              <a:rPr lang="ru-RU" sz="3600" b="1" dirty="0"/>
              <a:t>HelloCSharp</a:t>
            </a:r>
            <a:r>
              <a:rPr lang="ru-RU" sz="3600" dirty="0"/>
              <a:t>. Съдържанието на класа е разположено в блок от програмни редове, ограден във фигурални скоби: </a:t>
            </a:r>
            <a:r>
              <a:rPr lang="ru-RU" sz="3600" b="1" dirty="0"/>
              <a:t>{}</a:t>
            </a:r>
            <a:r>
              <a:rPr lang="ru-RU" sz="3600" dirty="0"/>
              <a:t>. </a:t>
            </a:r>
            <a:endParaRPr lang="bg-BG" sz="3600" dirty="0"/>
          </a:p>
        </p:txBody>
      </p:sp>
    </p:spTree>
    <p:extLst>
      <p:ext uri="{BB962C8B-B14F-4D97-AF65-F5344CB8AC3E}">
        <p14:creationId xmlns:p14="http://schemas.microsoft.com/office/powerpoint/2010/main" val="3566124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174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C# </a:t>
            </a:r>
            <a:r>
              <a:rPr lang="bg-BG" dirty="0" smtClean="0"/>
              <a:t>програма – структура (</a:t>
            </a:r>
            <a:r>
              <a:rPr lang="bg-BG" sz="3600" b="1" dirty="0"/>
              <a:t>Дефиниция на метод </a:t>
            </a:r>
            <a:r>
              <a:rPr lang="en-US" sz="3600" b="1" dirty="0"/>
              <a:t>Main</a:t>
            </a:r>
            <a:r>
              <a:rPr lang="en-US" sz="3600" b="1" dirty="0" smtClean="0"/>
              <a:t>()</a:t>
            </a:r>
            <a:r>
              <a:rPr lang="bg-BG" dirty="0" smtClean="0"/>
              <a:t>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71979"/>
            <a:ext cx="10515600" cy="5331853"/>
          </a:xfrm>
        </p:spPr>
        <p:txBody>
          <a:bodyPr>
            <a:normAutofit fontScale="92500" lnSpcReduction="20000"/>
          </a:bodyPr>
          <a:lstStyle/>
          <a:p>
            <a:r>
              <a:rPr lang="ru-RU" sz="3600" dirty="0"/>
              <a:t>На третия ред дефинираме метод с името </a:t>
            </a:r>
            <a:r>
              <a:rPr lang="ru-RU" sz="3600" b="1" dirty="0"/>
              <a:t>Main()</a:t>
            </a:r>
            <a:r>
              <a:rPr lang="ru-RU" sz="3600" dirty="0"/>
              <a:t>, която представлява входна или стартова точка за програмата. Всяка програма на C# се стартира от метод </a:t>
            </a:r>
            <a:r>
              <a:rPr lang="ru-RU" sz="3600" b="1" dirty="0"/>
              <a:t>Main() </a:t>
            </a:r>
            <a:r>
              <a:rPr lang="ru-RU" sz="3600" dirty="0"/>
              <a:t>със следната заглавна част (сигнатура): </a:t>
            </a:r>
            <a:endParaRPr lang="en-US" sz="3600" dirty="0" smtClean="0"/>
          </a:p>
          <a:p>
            <a:pPr marL="0" indent="0">
              <a:buNone/>
            </a:pPr>
            <a:r>
              <a:rPr lang="en-US" sz="3600" dirty="0"/>
              <a:t>	</a:t>
            </a:r>
            <a:r>
              <a:rPr lang="en-US" sz="3600" dirty="0" smtClean="0"/>
              <a:t>	</a:t>
            </a:r>
            <a:r>
              <a:rPr lang="ru-RU" sz="3600" dirty="0" smtClean="0">
                <a:solidFill>
                  <a:srgbClr val="FF0000"/>
                </a:solidFill>
              </a:rPr>
              <a:t>static </a:t>
            </a:r>
            <a:r>
              <a:rPr lang="ru-RU" sz="3600" dirty="0">
                <a:solidFill>
                  <a:srgbClr val="FF0000"/>
                </a:solidFill>
              </a:rPr>
              <a:t>void Main(string[] </a:t>
            </a:r>
            <a:r>
              <a:rPr lang="ru-RU" sz="3600" dirty="0" smtClean="0">
                <a:solidFill>
                  <a:srgbClr val="FF0000"/>
                </a:solidFill>
              </a:rPr>
              <a:t>args)</a:t>
            </a:r>
          </a:p>
          <a:p>
            <a:r>
              <a:rPr lang="ru-RU" sz="3600" dirty="0"/>
              <a:t>Методът трябва да е деклариран точно по начина, указан по-горе, трябва да е </a:t>
            </a:r>
            <a:r>
              <a:rPr lang="ru-RU" sz="3600" b="1" dirty="0"/>
              <a:t>static </a:t>
            </a:r>
            <a:r>
              <a:rPr lang="ru-RU" sz="3600" dirty="0"/>
              <a:t>и </a:t>
            </a:r>
            <a:r>
              <a:rPr lang="ru-RU" sz="3600" b="1" dirty="0"/>
              <a:t>void</a:t>
            </a:r>
            <a:r>
              <a:rPr lang="ru-RU" sz="3600" dirty="0"/>
              <a:t>, трябва да има име </a:t>
            </a:r>
            <a:r>
              <a:rPr lang="ru-RU" sz="3600" b="1" dirty="0"/>
              <a:t>Main </a:t>
            </a:r>
            <a:r>
              <a:rPr lang="ru-RU" sz="3600" dirty="0"/>
              <a:t>и като списък от параметри трябва да има един единствен параметър от тип масив от </a:t>
            </a:r>
            <a:r>
              <a:rPr lang="ru-RU" sz="3600" b="1" dirty="0"/>
              <a:t>string</a:t>
            </a:r>
            <a:r>
              <a:rPr lang="ru-RU" sz="3600" dirty="0"/>
              <a:t>. В нашия пример параметърът се казва </a:t>
            </a:r>
            <a:r>
              <a:rPr lang="ru-RU" sz="3600" b="1" dirty="0"/>
              <a:t>args</a:t>
            </a:r>
            <a:r>
              <a:rPr lang="ru-RU" sz="3600" dirty="0"/>
              <a:t>, но това не е задължително. Тъй като този параметър обикновено не се използва, той може да се пропусне</a:t>
            </a:r>
            <a:r>
              <a:rPr lang="ru-RU" sz="3600" dirty="0" smtClean="0"/>
              <a:t>.</a:t>
            </a:r>
          </a:p>
          <a:p>
            <a:pPr marL="0" indent="0">
              <a:buNone/>
            </a:pPr>
            <a:r>
              <a:rPr lang="bg-BG" sz="5200" dirty="0" smtClean="0"/>
              <a:t>			</a:t>
            </a:r>
            <a:r>
              <a:rPr lang="en-US" sz="5200" dirty="0" smtClean="0"/>
              <a:t>static </a:t>
            </a:r>
            <a:r>
              <a:rPr lang="en-US" sz="5200" dirty="0"/>
              <a:t>void Main() 	</a:t>
            </a:r>
            <a:r>
              <a:rPr lang="ru-RU" sz="36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269034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46220"/>
          </a:xfrm>
        </p:spPr>
        <p:txBody>
          <a:bodyPr/>
          <a:lstStyle/>
          <a:p>
            <a:r>
              <a:rPr lang="bg-BG" dirty="0" smtClean="0"/>
              <a:t>4. </a:t>
            </a:r>
            <a:r>
              <a:rPr lang="bg-BG" b="1" dirty="0"/>
              <a:t>Основни правила на форматирането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6220"/>
            <a:ext cx="10515600" cy="5409125"/>
          </a:xfrm>
        </p:spPr>
        <p:txBody>
          <a:bodyPr>
            <a:normAutofit/>
          </a:bodyPr>
          <a:lstStyle/>
          <a:p>
            <a:r>
              <a:rPr lang="ru-RU" dirty="0" smtClean="0"/>
              <a:t>Методите </a:t>
            </a:r>
            <a:r>
              <a:rPr lang="ru-RU" dirty="0"/>
              <a:t>се отместват по-навътре от дефиницията на класа; </a:t>
            </a:r>
            <a:endParaRPr lang="bg-BG" dirty="0"/>
          </a:p>
          <a:p>
            <a:r>
              <a:rPr lang="ru-RU" dirty="0"/>
              <a:t>Съдържанието на методите се отмества по-навътре от дефиницията на метода; </a:t>
            </a:r>
          </a:p>
          <a:p>
            <a:r>
              <a:rPr lang="ru-RU" dirty="0" smtClean="0"/>
              <a:t>Отварящата </a:t>
            </a:r>
            <a:r>
              <a:rPr lang="ru-RU" dirty="0"/>
              <a:t>фигурна скоба </a:t>
            </a:r>
            <a:r>
              <a:rPr lang="ru-RU" b="1" dirty="0"/>
              <a:t>{ </a:t>
            </a:r>
            <a:r>
              <a:rPr lang="ru-RU" dirty="0"/>
              <a:t>трябва да е сама на ред и да е разполо-жена точно под метода или класа, към който се отнася; </a:t>
            </a:r>
          </a:p>
          <a:p>
            <a:r>
              <a:rPr lang="ru-RU" dirty="0" smtClean="0"/>
              <a:t>Затварящата </a:t>
            </a:r>
            <a:r>
              <a:rPr lang="ru-RU" dirty="0"/>
              <a:t>фигурна скоба </a:t>
            </a:r>
            <a:r>
              <a:rPr lang="ru-RU" b="1" dirty="0"/>
              <a:t>} </a:t>
            </a:r>
            <a:r>
              <a:rPr lang="ru-RU" dirty="0"/>
              <a:t>трябва да е сама на ред и да е поставена вертикално точно под съответната й отваряща скоба (със същото отместване като нея); </a:t>
            </a:r>
          </a:p>
          <a:p>
            <a:r>
              <a:rPr lang="ru-RU" dirty="0" smtClean="0"/>
              <a:t>Имената </a:t>
            </a:r>
            <a:r>
              <a:rPr lang="ru-RU" dirty="0"/>
              <a:t>на класовете трябва да започват с главна буква; </a:t>
            </a:r>
          </a:p>
          <a:p>
            <a:r>
              <a:rPr lang="ru-RU" dirty="0" smtClean="0"/>
              <a:t>Имената </a:t>
            </a:r>
            <a:r>
              <a:rPr lang="ru-RU" dirty="0"/>
              <a:t>на променливите трябва да започват с малка буква; </a:t>
            </a:r>
          </a:p>
          <a:p>
            <a:r>
              <a:rPr lang="ru-RU" dirty="0" smtClean="0"/>
              <a:t>Имената </a:t>
            </a:r>
            <a:r>
              <a:rPr lang="ru-RU" dirty="0"/>
              <a:t>на методите трябва да започват с главна буква; 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877566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Имената на файловете съответстват на класовете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/>
              <a:t>Всяка C# програма се състои от един или няколко класа. Прието е всеки клас да се дефинира в отделен файл с име, съвпадащо с името на класа и разширение </a:t>
            </a:r>
            <a:r>
              <a:rPr lang="ru-RU" sz="5400" b="1" dirty="0"/>
              <a:t>.cs</a:t>
            </a:r>
            <a:r>
              <a:rPr lang="ru-RU" sz="5400" dirty="0"/>
              <a:t>.</a:t>
            </a:r>
            <a:endParaRPr lang="bg-BG" sz="5400" dirty="0"/>
          </a:p>
        </p:txBody>
      </p:sp>
    </p:spTree>
    <p:extLst>
      <p:ext uri="{BB962C8B-B14F-4D97-AF65-F5344CB8AC3E}">
        <p14:creationId xmlns:p14="http://schemas.microsoft.com/office/powerpoint/2010/main" val="1920799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4015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Visual Studio </a:t>
            </a:r>
            <a:r>
              <a:rPr lang="en-US" b="1" dirty="0" smtClean="0"/>
              <a:t>2010 Express – </a:t>
            </a:r>
            <a:r>
              <a:rPr lang="bg-BG" sz="2700" b="1" dirty="0" smtClean="0"/>
              <a:t>конфигурация по подразбиране</a:t>
            </a:r>
            <a:endParaRPr lang="bg-BG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561" y="1094703"/>
            <a:ext cx="5987603" cy="5499279"/>
          </a:xfrm>
        </p:spPr>
        <p:txBody>
          <a:bodyPr>
            <a:normAutofit fontScale="85000" lnSpcReduction="10000"/>
          </a:bodyPr>
          <a:lstStyle/>
          <a:p>
            <a:r>
              <a:rPr lang="ru-RU" sz="3200" b="1" dirty="0" smtClean="0"/>
              <a:t>Start </a:t>
            </a:r>
            <a:r>
              <a:rPr lang="ru-RU" sz="3200" b="1" dirty="0"/>
              <a:t>Page </a:t>
            </a:r>
            <a:r>
              <a:rPr lang="ru-RU" sz="3200" dirty="0"/>
              <a:t>– от началната страница можете лесно да отворите някой от последните си проекти или да стартирате нов, да направите първата си C# програма, да получите помощ за използването на C#. </a:t>
            </a:r>
          </a:p>
          <a:p>
            <a:r>
              <a:rPr lang="ru-RU" sz="3200" b="1" dirty="0" smtClean="0"/>
              <a:t>Solution </a:t>
            </a:r>
            <a:r>
              <a:rPr lang="ru-RU" sz="3200" b="1" dirty="0"/>
              <a:t>Explorer </a:t>
            </a:r>
            <a:r>
              <a:rPr lang="ru-RU" sz="3200" dirty="0"/>
              <a:t>– при незареден проект този прозорец е празен, но той ще стане част от живота ви като C# програмист. В него ще се показва структурата на проекта ви – всички файлове, от които се състои, независимо дали те са C# код, картинки, които ползвате, или някакъв друг вид код или ресурси. </a:t>
            </a:r>
          </a:p>
          <a:p>
            <a:endParaRPr lang="bg-B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164" y="1094703"/>
            <a:ext cx="5158173" cy="35423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62164" y="4791591"/>
            <a:ext cx="53962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Съществуват още много други прозорци във Visual Studio с помощно предназначение, които </a:t>
            </a:r>
            <a:r>
              <a:rPr lang="bg-BG" sz="2400" dirty="0" smtClean="0"/>
              <a:t>можете да включите през </a:t>
            </a:r>
            <a:r>
              <a:rPr lang="bg-BG" sz="2400" b="1" dirty="0" smtClean="0"/>
              <a:t>Главно меню &gt; </a:t>
            </a:r>
            <a:r>
              <a:rPr lang="en-US" sz="2400" b="1" dirty="0" smtClean="0"/>
              <a:t>View</a:t>
            </a:r>
            <a:endParaRPr lang="bg-BG" sz="2400" b="1" dirty="0"/>
          </a:p>
        </p:txBody>
      </p:sp>
    </p:spTree>
    <p:extLst>
      <p:ext uri="{BB962C8B-B14F-4D97-AF65-F5344CB8AC3E}">
        <p14:creationId xmlns:p14="http://schemas.microsoft.com/office/powerpoint/2010/main" val="2089730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1521"/>
          </a:xfrm>
        </p:spPr>
        <p:txBody>
          <a:bodyPr/>
          <a:lstStyle/>
          <a:p>
            <a:r>
              <a:rPr lang="ru-RU" b="1" dirty="0"/>
              <a:t>Създаване на нов C# проект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0775" y="2147596"/>
            <a:ext cx="10160357" cy="350622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Проект във Visual Studio се създава чрез следване на следните стъпки: </a:t>
            </a:r>
          </a:p>
          <a:p>
            <a:r>
              <a:rPr lang="en-US" dirty="0" smtClean="0"/>
              <a:t>File </a:t>
            </a:r>
            <a:r>
              <a:rPr lang="en-US" dirty="0"/>
              <a:t>-&gt; New Project ... </a:t>
            </a:r>
          </a:p>
          <a:p>
            <a:r>
              <a:rPr lang="ru-RU" dirty="0" smtClean="0"/>
              <a:t>Появява </a:t>
            </a:r>
            <a:r>
              <a:rPr lang="ru-RU" dirty="0"/>
              <a:t>се помощникът за нови проекти и в него са изброени типовете проекти, които можем да създадем. Имайте предвид, че понеже използваме безплатна версия на Visual Studio, предназна-чена главно за учащи, ще видим доста по-малко видове проекти, отколкото в стандартните, платени версии на VS: </a:t>
            </a:r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057249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1521"/>
          </a:xfrm>
        </p:spPr>
        <p:txBody>
          <a:bodyPr/>
          <a:lstStyle/>
          <a:p>
            <a:r>
              <a:rPr lang="ru-RU" b="1" dirty="0"/>
              <a:t>Създаване на нов C# проект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0775" y="901522"/>
            <a:ext cx="4616059" cy="5743978"/>
          </a:xfrm>
        </p:spPr>
        <p:txBody>
          <a:bodyPr>
            <a:normAutofit fontScale="77500" lnSpcReduction="20000"/>
          </a:bodyPr>
          <a:lstStyle/>
          <a:p>
            <a:endParaRPr lang="bg-BG" dirty="0"/>
          </a:p>
          <a:p>
            <a:r>
              <a:rPr lang="ru-RU" dirty="0" smtClean="0"/>
              <a:t>Избираме </a:t>
            </a:r>
            <a:r>
              <a:rPr lang="ru-RU" b="1" dirty="0"/>
              <a:t>Console Application</a:t>
            </a:r>
            <a:r>
              <a:rPr lang="ru-RU" dirty="0"/>
              <a:t>. Конзолните приложения са прог-рами, които ползват за вход и изход конзолата. Когато е необходимо да се въведат данни, те се въвеждат от клавиатурата, а когато се отпечатва нещо, то се появява в конзолата (т.е. като текст на екрана в прозореца на програмата). Освен конзолни приложенията могат да бъдат с графичен потребителски интерфейс (GUI), уеб приложения, уеб услуги, мобилни приложения, RIA приложения и други. </a:t>
            </a:r>
          </a:p>
          <a:p>
            <a:r>
              <a:rPr lang="ru-RU" dirty="0" smtClean="0"/>
              <a:t>В </a:t>
            </a:r>
            <a:r>
              <a:rPr lang="ru-RU" dirty="0"/>
              <a:t>полето "Name" пишем името на проекта. В нашия случай избираме име </a:t>
            </a:r>
            <a:r>
              <a:rPr lang="ru-RU" b="1" dirty="0"/>
              <a:t>IntroToCSharp</a:t>
            </a:r>
            <a:r>
              <a:rPr lang="ru-RU" dirty="0"/>
              <a:t>. </a:t>
            </a:r>
          </a:p>
          <a:p>
            <a:r>
              <a:rPr lang="bg-BG" dirty="0" smtClean="0"/>
              <a:t>Натискаме </a:t>
            </a:r>
            <a:r>
              <a:rPr lang="bg-BG" dirty="0"/>
              <a:t>бутона [</a:t>
            </a:r>
            <a:r>
              <a:rPr lang="en-US" dirty="0"/>
              <a:t>OK].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834" y="2147596"/>
            <a:ext cx="6177453" cy="348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622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1521"/>
          </a:xfrm>
        </p:spPr>
        <p:txBody>
          <a:bodyPr/>
          <a:lstStyle/>
          <a:p>
            <a:r>
              <a:rPr lang="ru-RU" b="1" dirty="0"/>
              <a:t>Създаване на нов C# проект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0775" y="901522"/>
            <a:ext cx="4616059" cy="5743978"/>
          </a:xfrm>
        </p:spPr>
        <p:txBody>
          <a:bodyPr>
            <a:normAutofit fontScale="77500" lnSpcReduction="20000"/>
          </a:bodyPr>
          <a:lstStyle/>
          <a:p>
            <a:endParaRPr lang="bg-BG" dirty="0"/>
          </a:p>
          <a:p>
            <a:pPr marL="0" indent="0">
              <a:buNone/>
            </a:pPr>
            <a:r>
              <a:rPr lang="ru-RU" dirty="0"/>
              <a:t>Новосъздаденият проект се показва в Solution Explorer. Автоматично е добавен и първият ни файл, съдържащ кода на програмата. Той носи името </a:t>
            </a:r>
            <a:r>
              <a:rPr lang="ru-RU" b="1" dirty="0"/>
              <a:t>Program.cs</a:t>
            </a:r>
            <a:r>
              <a:rPr lang="ru-RU" dirty="0"/>
              <a:t>. Важно е да задаваме смислени имена на нашите файлове, класове, методи и други елементи от програмата, за да можем след това лесно да ги намираме и да се ориентираме с кода. За да преименуваме файла </a:t>
            </a:r>
            <a:r>
              <a:rPr lang="ru-RU" b="1" dirty="0"/>
              <a:t>Program.cs</a:t>
            </a:r>
            <a:r>
              <a:rPr lang="ru-RU" dirty="0"/>
              <a:t>, щракваме с десен бутон върху него в Solution Explorer и избираме "Rename". Може да зададем за име на основния файл от нашата C# програма </a:t>
            </a:r>
            <a:r>
              <a:rPr lang="ru-RU" b="1" dirty="0"/>
              <a:t>IntroToCSharp.cs</a:t>
            </a:r>
            <a:r>
              <a:rPr lang="ru-RU" dirty="0"/>
              <a:t>. Преименува-нето а файл можем да изпълним и с клавиша [F2], когато е избран съответния файл от Solution Explorer: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369" y="1308856"/>
            <a:ext cx="6260827" cy="4177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37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1521"/>
          </a:xfrm>
        </p:spPr>
        <p:txBody>
          <a:bodyPr/>
          <a:lstStyle/>
          <a:p>
            <a:r>
              <a:rPr lang="ru-RU" b="1" dirty="0"/>
              <a:t>Създаване на нов C# проект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5170" y="1944711"/>
            <a:ext cx="4616059" cy="30651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Появява </a:t>
            </a:r>
            <a:r>
              <a:rPr lang="ru-RU" dirty="0"/>
              <a:t>се диалогов прозорец, който ни пита дали искаме освен името на файла да преименуваме и името на класа. Избираме "Yes".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2807" y="1356504"/>
            <a:ext cx="6175540" cy="4129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544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1521"/>
          </a:xfrm>
        </p:spPr>
        <p:txBody>
          <a:bodyPr/>
          <a:lstStyle/>
          <a:p>
            <a:r>
              <a:rPr lang="ru-RU" b="1" dirty="0"/>
              <a:t>Създаване на нов C# проект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5170" y="991673"/>
            <a:ext cx="4616059" cy="539624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bg-BG" dirty="0"/>
              <a:t>След като изпълним горните стъпки вече имаме първото конзолно приложение носещо името </a:t>
            </a:r>
            <a:r>
              <a:rPr lang="en-US" b="1" dirty="0" err="1"/>
              <a:t>IntroToCSharp</a:t>
            </a:r>
            <a:r>
              <a:rPr lang="en-US" b="1" dirty="0"/>
              <a:t> </a:t>
            </a:r>
            <a:r>
              <a:rPr lang="bg-BG" dirty="0"/>
              <a:t>и съдържащо един единствен клас </a:t>
            </a:r>
            <a:r>
              <a:rPr lang="en-US" b="1" dirty="0" err="1" smtClean="0"/>
              <a:t>HelloCSharp</a:t>
            </a:r>
            <a:r>
              <a:rPr lang="bg-BG" dirty="0" smtClean="0"/>
              <a:t>.</a:t>
            </a:r>
          </a:p>
          <a:p>
            <a:pPr marL="0" indent="0">
              <a:buNone/>
            </a:pPr>
            <a:r>
              <a:rPr lang="bg-BG" dirty="0"/>
              <a:t>Остава да допълним кода на метода </a:t>
            </a:r>
            <a:r>
              <a:rPr lang="en-US" b="1" dirty="0"/>
              <a:t>Main()</a:t>
            </a:r>
            <a:r>
              <a:rPr lang="en-US" dirty="0"/>
              <a:t>. </a:t>
            </a:r>
            <a:r>
              <a:rPr lang="bg-BG" dirty="0"/>
              <a:t>По подразбиране кодът на </a:t>
            </a:r>
            <a:r>
              <a:rPr lang="en-US" b="1" dirty="0" err="1"/>
              <a:t>HelloCSharp.cs</a:t>
            </a:r>
            <a:r>
              <a:rPr lang="en-US" b="1" dirty="0"/>
              <a:t> </a:t>
            </a:r>
            <a:r>
              <a:rPr lang="bg-BG" dirty="0"/>
              <a:t>би трябвало да е зареден за редактиране. Ако не е, щракваме два пъти върху файла </a:t>
            </a:r>
            <a:r>
              <a:rPr lang="en-US" b="1" dirty="0" err="1"/>
              <a:t>HelloCSharp.cs</a:t>
            </a:r>
            <a:r>
              <a:rPr lang="en-US" b="1" dirty="0"/>
              <a:t> </a:t>
            </a:r>
            <a:r>
              <a:rPr lang="bg-BG" dirty="0"/>
              <a:t>в </a:t>
            </a:r>
            <a:r>
              <a:rPr lang="en-US" dirty="0"/>
              <a:t>Solution Explorer </a:t>
            </a:r>
            <a:r>
              <a:rPr lang="bg-BG" dirty="0"/>
              <a:t>прозореца, за да го заредим.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1229" y="1365160"/>
            <a:ext cx="6072310" cy="4391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7659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50006"/>
          </a:xfrm>
        </p:spPr>
        <p:txBody>
          <a:bodyPr/>
          <a:lstStyle/>
          <a:p>
            <a:r>
              <a:rPr lang="bg-BG" b="1" dirty="0"/>
              <a:t>Компилиране на сорс кода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8352" y="949861"/>
            <a:ext cx="10515600" cy="570851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sz="3600" dirty="0"/>
              <a:t>Процесът на компилация във Visual Studio включва няколко стъпки: </a:t>
            </a:r>
          </a:p>
          <a:p>
            <a:r>
              <a:rPr lang="bg-BG" sz="3600" dirty="0" smtClean="0"/>
              <a:t>Проверка </a:t>
            </a:r>
            <a:r>
              <a:rPr lang="bg-BG" sz="3600" dirty="0"/>
              <a:t>за синтактични грешки; </a:t>
            </a:r>
          </a:p>
          <a:p>
            <a:r>
              <a:rPr lang="ru-RU" sz="3600" dirty="0" smtClean="0"/>
              <a:t>Проверка </a:t>
            </a:r>
            <a:r>
              <a:rPr lang="ru-RU" sz="3600" dirty="0"/>
              <a:t>за други грешки, например липсващи библиотеки; </a:t>
            </a:r>
          </a:p>
          <a:p>
            <a:r>
              <a:rPr lang="ru-RU" sz="3600" dirty="0" smtClean="0"/>
              <a:t>Преобразуване </a:t>
            </a:r>
            <a:r>
              <a:rPr lang="ru-RU" sz="3600" dirty="0"/>
              <a:t>на C# кода в изпълним файл (.NET асембли). При конзолни приложения се получава </a:t>
            </a:r>
            <a:r>
              <a:rPr lang="ru-RU" sz="3600" b="1" dirty="0"/>
              <a:t>.exe </a:t>
            </a:r>
            <a:r>
              <a:rPr lang="ru-RU" sz="3600" dirty="0"/>
              <a:t>файл. </a:t>
            </a:r>
            <a:endParaRPr lang="ru-RU" sz="3600" dirty="0" smtClean="0"/>
          </a:p>
          <a:p>
            <a:pPr marL="0" indent="0">
              <a:buNone/>
            </a:pPr>
            <a:r>
              <a:rPr lang="ru-RU" sz="3600" dirty="0"/>
              <a:t>За да компилираме нашия примерен файл във Visual Studio натискаме клавиша [F6]. Обикновено още докато пишем и най-късно при компи-лация намерените грешки се подчертават в червено, за да привличат вниманието на програмиста, и се показват във визуализатора "Error List" (ако сте го изключили можете да го покажете от менюто "View" на Visual Studio</a:t>
            </a:r>
            <a:r>
              <a:rPr lang="ru-RU" sz="3600" dirty="0" smtClean="0"/>
              <a:t>).</a:t>
            </a:r>
          </a:p>
          <a:p>
            <a:pPr marL="0" indent="0">
              <a:buNone/>
            </a:pPr>
            <a:r>
              <a:rPr lang="ru-RU" sz="3200" dirty="0"/>
              <a:t>Ако в проекта ни има поне една грешка, то тя се отбелязва с малък червен "х" в прозореца "Error List". За всяка грешка се визуализира кратко описание на проблема, име на файл, номер на ред и име на проект. Ако щракнем два пъти върху някоя от грешките в "Error List", Visual Studio ни прехвърля автоматично в съответния файл и на съответния ред в кода, на мястото в кода, където е възникнала грешката. </a:t>
            </a:r>
            <a:endParaRPr lang="ru-RU" sz="3600" dirty="0"/>
          </a:p>
          <a:p>
            <a:endParaRPr lang="bg-BG" dirty="0"/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8763871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65915"/>
          </a:xfrm>
        </p:spPr>
        <p:txBody>
          <a:bodyPr/>
          <a:lstStyle/>
          <a:p>
            <a:r>
              <a:rPr lang="bg-BG" b="1" dirty="0"/>
              <a:t>Стартиране на проекта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21073"/>
            <a:ext cx="10515600" cy="4351338"/>
          </a:xfrm>
        </p:spPr>
        <p:txBody>
          <a:bodyPr>
            <a:normAutofit/>
          </a:bodyPr>
          <a:lstStyle/>
          <a:p>
            <a:r>
              <a:rPr lang="ru-RU" dirty="0"/>
              <a:t>За да стартираме проекта натискаме [Ctrl+F5] </a:t>
            </a:r>
            <a:endParaRPr lang="ru-RU" dirty="0" smtClean="0"/>
          </a:p>
          <a:p>
            <a:r>
              <a:rPr lang="ru-RU" dirty="0" smtClean="0"/>
              <a:t>Програмата </a:t>
            </a:r>
            <a:r>
              <a:rPr lang="ru-RU" dirty="0"/>
              <a:t>се стартира и резултатът се изписва в конзолата, следван от текста "</a:t>
            </a:r>
            <a:r>
              <a:rPr lang="ru-RU" b="1" dirty="0"/>
              <a:t>Press any key to continue . . </a:t>
            </a:r>
            <a:r>
              <a:rPr lang="ru-RU" b="1" dirty="0" smtClean="0"/>
              <a:t>.</a:t>
            </a:r>
            <a:r>
              <a:rPr lang="ru-RU" dirty="0" smtClean="0"/>
              <a:t>"</a:t>
            </a:r>
          </a:p>
          <a:p>
            <a:r>
              <a:rPr lang="ru-RU" dirty="0"/>
              <a:t>Последното съобщение не е част от резултата, произведен от програмата, а се показва от Visual Studio с цел да ни подсети, че програмата е завършила изпълнението си и да ни даде време да видим резултата. Ако стартираме програмата само с [F5], въпросното съобщение няма да се появи и резултатът ще изчезне веднага след като се е появил, защото програмата ще приключи и нейният прозорец ще бъде затворен. </a:t>
            </a:r>
            <a:r>
              <a:rPr lang="ru-RU" dirty="0" smtClean="0"/>
              <a:t> </a:t>
            </a:r>
          </a:p>
          <a:p>
            <a:endParaRPr lang="bg-B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5899" y="4741835"/>
            <a:ext cx="3521148" cy="177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7167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bg-BG" b="1" dirty="0"/>
              <a:t>Дебъгване на </a:t>
            </a:r>
            <a:r>
              <a:rPr lang="bg-BG" b="1" dirty="0" smtClean="0"/>
              <a:t>програмата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Когато програмата ни съдържа грешки, известни още като </a:t>
            </a:r>
            <a:r>
              <a:rPr lang="ru-RU" b="1" dirty="0"/>
              <a:t>бъгове</a:t>
            </a:r>
            <a:r>
              <a:rPr lang="ru-RU" dirty="0"/>
              <a:t>, трябва да ги намерим и отстраним, т.е. да </a:t>
            </a:r>
            <a:r>
              <a:rPr lang="ru-RU" b="1" dirty="0"/>
              <a:t>дебъгнем </a:t>
            </a:r>
            <a:r>
              <a:rPr lang="ru-RU" dirty="0"/>
              <a:t>програмата. Процесът на дебъгване включва: </a:t>
            </a:r>
          </a:p>
          <a:p>
            <a:r>
              <a:rPr lang="bg-BG" dirty="0" smtClean="0"/>
              <a:t>Забелязване </a:t>
            </a:r>
            <a:r>
              <a:rPr lang="bg-BG" dirty="0"/>
              <a:t>на проблемите (бъговете); </a:t>
            </a:r>
          </a:p>
          <a:p>
            <a:r>
              <a:rPr lang="ru-RU" dirty="0" smtClean="0"/>
              <a:t>Намиране </a:t>
            </a:r>
            <a:r>
              <a:rPr lang="ru-RU" dirty="0"/>
              <a:t>на кода, който причинява проблемите; </a:t>
            </a:r>
          </a:p>
          <a:p>
            <a:r>
              <a:rPr lang="ru-RU" dirty="0" smtClean="0"/>
              <a:t>Оправяне </a:t>
            </a:r>
            <a:r>
              <a:rPr lang="ru-RU" dirty="0"/>
              <a:t>на кода, така че програмата да работи правилно; </a:t>
            </a:r>
          </a:p>
          <a:p>
            <a:r>
              <a:rPr lang="ru-RU" dirty="0" smtClean="0"/>
              <a:t>Тестване</a:t>
            </a:r>
            <a:r>
              <a:rPr lang="ru-RU" dirty="0"/>
              <a:t>, за да се убедим, че програмата работи правилно след нанесените корекции. </a:t>
            </a:r>
          </a:p>
          <a:p>
            <a:endParaRPr lang="bg-BG" dirty="0"/>
          </a:p>
          <a:p>
            <a:pPr marL="0" indent="0">
              <a:buNone/>
            </a:pPr>
            <a:r>
              <a:rPr lang="ru-RU" dirty="0"/>
              <a:t>Процесът може да се повтори няколко пъти, докато програмата заработи правилно. 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0733982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bg-BG" b="1" dirty="0"/>
              <a:t>Дебъгване на </a:t>
            </a:r>
            <a:r>
              <a:rPr lang="bg-BG" b="1" dirty="0" smtClean="0"/>
              <a:t>програмата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80864"/>
            <a:ext cx="6445876" cy="5535910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След като сме забелязали проблем в програмата, трябва да намерим кода, който го причинява. Visual Studio може да ни помогне с това, като ни позволи да проверим постъпково дали всичко работи, както е планирано. </a:t>
            </a:r>
          </a:p>
          <a:p>
            <a:r>
              <a:rPr lang="ru-RU" dirty="0"/>
              <a:t>За да спрем изпълнението на програмата на някакви определени места можем да поставяме </a:t>
            </a:r>
            <a:r>
              <a:rPr lang="ru-RU" b="1" dirty="0"/>
              <a:t>точки на прекъсване</a:t>
            </a:r>
            <a:r>
              <a:rPr lang="ru-RU" dirty="0"/>
              <a:t>, известни още като </a:t>
            </a:r>
            <a:r>
              <a:rPr lang="ru-RU" b="1" dirty="0"/>
              <a:t>стопери (breakpoints)</a:t>
            </a:r>
            <a:r>
              <a:rPr lang="ru-RU" dirty="0"/>
              <a:t>. Стоперът е асоцииран към ред от програмата. Програмата спира изпълнението си на тези редове, където има стопер и позволява постъпково изпълнение на останалите редове</a:t>
            </a:r>
            <a:r>
              <a:rPr lang="ru-RU" dirty="0" smtClean="0"/>
              <a:t>.  Изпълнението до следващ </a:t>
            </a:r>
            <a:r>
              <a:rPr lang="en-US" dirty="0" smtClean="0"/>
              <a:t>breakpoint </a:t>
            </a:r>
            <a:r>
              <a:rPr lang="bg-BG" dirty="0" smtClean="0"/>
              <a:t>се продължава или чрез бутона </a:t>
            </a:r>
            <a:r>
              <a:rPr lang="en-US" dirty="0" smtClean="0"/>
              <a:t>Start Debugging, </a:t>
            </a:r>
            <a:r>
              <a:rPr lang="bg-BG" dirty="0" smtClean="0"/>
              <a:t>или чрез </a:t>
            </a:r>
            <a:r>
              <a:rPr lang="en-US" dirty="0" smtClean="0"/>
              <a:t>F5</a:t>
            </a:r>
            <a:r>
              <a:rPr lang="bg-BG" dirty="0" smtClean="0"/>
              <a:t>. </a:t>
            </a:r>
            <a:r>
              <a:rPr lang="ru-RU" dirty="0" smtClean="0"/>
              <a:t>На </a:t>
            </a:r>
            <a:r>
              <a:rPr lang="ru-RU" dirty="0"/>
              <a:t>всяка стъпка може да проверяваме и дори да променяме стойностите на текущите променливи. </a:t>
            </a:r>
            <a:endParaRPr lang="ru-RU" dirty="0" smtClean="0"/>
          </a:p>
          <a:p>
            <a:r>
              <a:rPr lang="ru-RU" dirty="0"/>
              <a:t>След като вече знаем точно къде е проблемът в програмата, можем да го отстраним. За да стане това трябва първо да спрем изпълнението на програмата преди да е завършила. Избираме Debug –&gt; Stop Debugging или натискаме [Shift + F5]. </a:t>
            </a:r>
            <a:endParaRPr lang="bg-B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61614"/>
          <a:stretch/>
        </p:blipFill>
        <p:spPr>
          <a:xfrm>
            <a:off x="7495504" y="966451"/>
            <a:ext cx="4069724" cy="565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016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3033</TotalTime>
  <Words>1938</Words>
  <Application>Microsoft Office PowerPoint</Application>
  <PresentationFormat>Widescreen</PresentationFormat>
  <Paragraphs>94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Въведение в програмирането</vt:lpstr>
      <vt:lpstr>1. Какво е C#</vt:lpstr>
      <vt:lpstr>2. Платформата Microsoft .NET Framework </vt:lpstr>
      <vt:lpstr>Предимства</vt:lpstr>
      <vt:lpstr>Разновидности</vt:lpstr>
      <vt:lpstr>Application Programming Interface (API) </vt:lpstr>
      <vt:lpstr>3. C# програма - структура</vt:lpstr>
      <vt:lpstr>C# програма – структура (Дефиниция на клас )</vt:lpstr>
      <vt:lpstr>C# програма – структура (Дефиниция на метод Main())</vt:lpstr>
      <vt:lpstr>4. Основни правила на форматирането </vt:lpstr>
      <vt:lpstr>Имената на файловете съответстват на класовете</vt:lpstr>
      <vt:lpstr>Visual Studio 2010 Express – конфигурация по подразбиране</vt:lpstr>
      <vt:lpstr>Създаване на нов C# проект </vt:lpstr>
      <vt:lpstr>Създаване на нов C# проект </vt:lpstr>
      <vt:lpstr>Създаване на нов C# проект </vt:lpstr>
      <vt:lpstr>Създаване на нов C# проект </vt:lpstr>
      <vt:lpstr>Създаване на нов C# проект </vt:lpstr>
      <vt:lpstr>Компилиране на сорс кода </vt:lpstr>
      <vt:lpstr>Стартиране на проекта </vt:lpstr>
      <vt:lpstr>Дебъгване на програмата</vt:lpstr>
      <vt:lpstr>Дебъгване на програмата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Въведение в програмирането</dc:title>
  <dc:creator>Iliyan Kovachev</dc:creator>
  <cp:lastModifiedBy>Iliyan Kovachev</cp:lastModifiedBy>
  <cp:revision>24</cp:revision>
  <dcterms:created xsi:type="dcterms:W3CDTF">2015-03-23T04:08:06Z</dcterms:created>
  <dcterms:modified xsi:type="dcterms:W3CDTF">2015-03-27T06:40:22Z</dcterms:modified>
</cp:coreProperties>
</file>